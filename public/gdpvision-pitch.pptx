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8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GDPVISION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62495" y="548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1.0  ·  CONFIDENTIAL — GOVERNMENT USE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10972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6000" spc="-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world's first instrument</a:t>
            </a:r>
            <a:endParaRPr lang="en-US" sz="6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6000" spc="-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elevate national GDP.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548640" y="4709160"/>
            <a:ext cx="822960" cy="0"/>
          </a:xfrm>
          <a:prstGeom prst="line">
            <a:avLst/>
          </a:prstGeom>
          <a:noFill/>
          <a:ln w="25400">
            <a:solidFill>
              <a:srgbClr val="C9A2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89204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Presidents, Prime Ministers and Cabinets — a sovereign decision instrument that turns a nation's public and private data into decisions that measurably lift GDP.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gdpvision.com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76895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briefing deck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MANDATE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B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GDPVISION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16736"/>
            <a:ext cx="4572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spc="-100" kern="0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is now a sovereign instrument — not a report.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Cabinets are asked to elevate GDP against compounding shocks — CBI phase-outs, de-risking, climate, capital flight, contested narratives. Cabinet time is finite; conventional dashboards weren't built for it. GDPVision is.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3611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7548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-34%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85800" y="55778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 in Caribbean correspondent banking relationships (2011–2022).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4663440"/>
            <a:ext cx="3611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47548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480560" y="55778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Jurisdictions facing active correspondent withdrawal.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4663440"/>
            <a:ext cx="3611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5320" y="475488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8275320" y="55778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for CBI phase-out demanded by Brussels — no replacement revenue offered.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INSTRUMENT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B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GDPVISION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16736"/>
            <a:ext cx="4572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spc="-100" kern="0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instrument. Seven chambers. One sovereign corpus.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GDPVision is a decision instrument — not a dashboard. Every chart, scenario, dossier and briefing reads from the Second Brain: a living sovereign corpus of public evidence and private cabinet knowledge, held under the same provenance discipline.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4709160"/>
            <a:ext cx="544068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800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corpus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525780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Deep-researched, sourced, graded and citation-backed data every ministry in the country sees — continuously refreshed by the instrument's own agents.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80760" y="4709160"/>
            <a:ext cx="5440680" cy="1691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4800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corpus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55080" y="5257800"/>
            <a:ext cx="5029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Cabinet-only uploads — contracts, memos, MoUs, closes, briefings — held under the same provenance discipline. Marked private at ingest, never surfaced to the public view.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 IT WORKS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B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GDPVISION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EVIDENCE TO DECISION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16736"/>
            <a:ext cx="4572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spc="-100" kern="0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research → sovereign corpus → seven chambers → cabinet decisions.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3246120"/>
            <a:ext cx="26974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3832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85800" y="4069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research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4526280"/>
            <a:ext cx="2286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scour the open web for country-grade evidence — sourced, graded, cited.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3246120"/>
            <a:ext cx="26974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20440" y="33832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520440" y="4069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 corpus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20440" y="4526280"/>
            <a:ext cx="2286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+ private data ingested into one Second Brain with visibility as a first-class attribute.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3246120"/>
            <a:ext cx="26974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3832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6355080" y="4069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chambers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55080" y="4526280"/>
            <a:ext cx="2286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Ledger, Portfolio, Scenario, FDI Studio, Narrative, Cabinet, Persona Lab.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61120" y="3246120"/>
            <a:ext cx="269748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89720" y="338328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dirty="0">
                <a:solidFill>
                  <a:srgbClr val="C9A2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9189720" y="4069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Cabinet decisions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89720" y="4526280"/>
            <a:ext cx="22860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Recorded, tracked, and reconciled against ratified KPIs — session by session.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B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GDPVISION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822960"/>
            <a:ext cx="603504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" y="822960"/>
            <a:ext cx="6035040" cy="530352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01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46520" y="1271016"/>
            <a:ext cx="4572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37160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spc="-50" kern="0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National Ledger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446520" y="26517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source of GDP truth every other decision reads from.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46520" y="3749040"/>
            <a:ext cx="64008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393192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12-sector ontology with a decade of history and a data-confidence grade on every series.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indices — single, methodologically-documented numbers, drillable to source.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sector dossiers: economic, policy, comms, and regional.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B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GDPVISION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822960"/>
            <a:ext cx="603504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" y="822960"/>
            <a:ext cx="6035040" cy="530352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02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46520" y="1271016"/>
            <a:ext cx="4572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37160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spc="-50" kern="0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Workspaces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446520" y="26517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minister sees their contribution to GDP — and the levers that raise it.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46520" y="3749040"/>
            <a:ext cx="64008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393192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position, dependency web, and the portfolio's share of national exposure.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shelf of the minister's scenarios, from draft through Cabinet-adopted.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Play-of-the-day cards derived from live lever values.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B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GDPVISION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822960"/>
            <a:ext cx="603504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" y="822960"/>
            <a:ext cx="6035040" cy="530352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03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46520" y="1271016"/>
            <a:ext cx="4572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37160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spc="-50" kern="0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Scenario Engine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446520" y="26517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Rehearse every GDP-moving decision before it costs a cent.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46520" y="3749040"/>
            <a:ext cx="64008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393192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Vitals — real GDP, debt-to-GDP, FX retention, primary balance, public confidence — live.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Ripple propagation through the inter-sector dependency web.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Goal-seek: set the target, discover the levers that reach it.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B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GDPVISION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822960"/>
            <a:ext cx="603504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" y="822960"/>
            <a:ext cx="6035040" cy="530352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04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46520" y="1271016"/>
            <a:ext cx="4572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37160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spc="-50" kern="0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FDI Transition Studio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446520" y="26517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fragile revenue with durable GDP — package by package.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46520" y="3749040"/>
            <a:ext cx="64008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393192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Gap: revenue and GDP hole under the selected wind-down glide-path, year by year.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package builder with capital-to-GDP conversion and time-to-impact lags.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scoring across legal, land, workforce, incentives, and institutional capacity.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B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GDPVISION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822960"/>
            <a:ext cx="603504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" y="822960"/>
            <a:ext cx="6035040" cy="530352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05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46520" y="1271016"/>
            <a:ext cx="4572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37160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spc="-50" kern="0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Narrative Chamber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446520" y="26517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GDP by reaching a defensible national position inside a working day.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46520" y="3749040"/>
            <a:ext cx="64008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393192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Desk, Context Dossiers, and a persistent Second Brain that never starts from a blank page.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Doctorate-grade strategy statements with a message architecture that carries across every channel.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Human-command doctrine: the chamber drafts, principals decide, nothing releases autonomously.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B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GDPVISION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822960"/>
            <a:ext cx="603504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" y="822960"/>
            <a:ext cx="6035040" cy="530352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06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46520" y="1271016"/>
            <a:ext cx="4572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37160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spc="-50" kern="0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Cabinet Room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446520" y="26517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Cabinet time into recorded, tracked commitments that move the GDP dial.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46520" y="3749040"/>
            <a:ext cx="64008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393192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Mode: agenda of promoted scenarios, full-bleed comparisons, decisions recorded live.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Scorecard — every ratified KPI, current pace, movement since last session.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Commitments roll-up: what was adopted, who owns it, where it stands.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B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GDPVISION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822960"/>
            <a:ext cx="6035040" cy="5303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7160" y="822960"/>
            <a:ext cx="6035040" cy="5303520"/>
          </a:xfrm>
          <a:prstGeom prst="rect">
            <a:avLst/>
          </a:prstGeom>
          <a:ln w="9525">
            <a:solidFill>
              <a:srgbClr val="D8D2C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CHAMBER 07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46520" y="1271016"/>
            <a:ext cx="4572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371600"/>
            <a:ext cx="5394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spc="-50" kern="0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 Lab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6446520" y="265176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resonance with citizens and investors before policies, incentives, or narratives ship.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446520" y="3749040"/>
            <a:ext cx="64008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393192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personas and segments modelled from the sovereign corpus and public evidence.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 that stress-test policy, incentive, and narrative options against real audience logic.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■"/>
            </a:pPr>
            <a:r>
              <a:rPr lang="en-US" sz="1800" dirty="0">
                <a:solidFill>
                  <a:srgbClr val="0B0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cited, exportable, and traceable back to the Ledger.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SOVEREIGNTY &amp; TRUST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B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GDPVISION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16736"/>
            <a:ext cx="4572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spc="-100" kern="0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 by architecture — not by policy alone.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6118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3063240"/>
            <a:ext cx="36576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 instance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520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database, storage, and encryption keys. No cross-instance queries exist in the architecture.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51960" y="2834640"/>
            <a:ext cx="36118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3063240"/>
            <a:ext cx="36576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ownership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0560" y="3520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government owns its instance data — contractually and technically. Full export, verified deletion, EU residency on request.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2834640"/>
            <a:ext cx="36118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3063240"/>
            <a:ext cx="36576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 &amp; audit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75320" y="35204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mandatory. Hardware-key support for Principals and Stewards. Immutable audit log on every change, decision and export.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36118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846320"/>
            <a:ext cx="36576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937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 / private separation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5303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is a first-class attribute on every row. Private cabinet uploads never enter the public corpus.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51960" y="4617720"/>
            <a:ext cx="36118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4846320"/>
            <a:ext cx="36576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4937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By-invitation access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480560" y="5303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open sign-up. Access is granted to named principals and stewards under Cabinet authority.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4617720"/>
            <a:ext cx="361188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75320" y="4846320"/>
            <a:ext cx="36576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75320" y="4937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trackers, ever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75320" y="53035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third-party analytics inside government instances. Telemetry is first-party and instance-consented.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WHAT CHANGES IN 90 DAYS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11535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5B64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GDPVISION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STAND-UP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16736"/>
            <a:ext cx="4572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spc="-100" kern="0" dirty="0">
                <a:solidFill>
                  <a:srgbClr val="0B0B0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evidence to the first ratified cabinet decision — in a quarter.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2697480" cy="3246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1–15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Corpus stood up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85800" y="4434840"/>
            <a:ext cx="5486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572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onboarded across the 12-sector ontology. Ministries, KPIs, capital flows, and source registry ingested and graded.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91840" y="3063240"/>
            <a:ext cx="2697480" cy="3246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16–45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20440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Chambers live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520440" y="4434840"/>
            <a:ext cx="5486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0440" y="4572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Ledger, Portfolio, Scenario, Narrative and Cabinet Room activated. Named principals and stewards credentialled.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3063240"/>
            <a:ext cx="2697480" cy="3246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46–75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cabinet session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355080" y="4434840"/>
            <a:ext cx="5486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4572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scenarios rehearsed, decisions recorded live, commitments rolled up onto the National Scorecard.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61120" y="3063240"/>
            <a:ext cx="2697480" cy="3246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3200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76–90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89720" y="35661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published position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189720" y="4434840"/>
            <a:ext cx="54864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89720" y="45720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to statement inside a working day. First defensible national narrative shipped from the Narrative Chamber.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1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800" kern="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 TO CABINET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64208"/>
            <a:ext cx="457200" cy="0"/>
          </a:xfrm>
          <a:prstGeom prst="line">
            <a:avLst/>
          </a:prstGeom>
          <a:noFill/>
          <a:ln w="19050">
            <a:solidFill>
              <a:srgbClr val="C9A2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8800" spc="-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Elevate your GDP.</a:t>
            </a:r>
            <a:endParaRPr lang="en-US" sz="8800" dirty="0"/>
          </a:p>
        </p:txBody>
      </p:sp>
      <p:sp>
        <p:nvSpPr>
          <p:cNvPr id="6" name="Text 4"/>
          <p:cNvSpPr/>
          <p:nvPr/>
        </p:nvSpPr>
        <p:spPr>
          <a:xfrm>
            <a:off x="548640" y="4023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sixty-minute cabinet briefing. Delivered in person or over secure video. Under NDA on request. No slideware — the instrument, on your country.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5349240"/>
            <a:ext cx="7315200" cy="100584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53492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21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Request a Cabinet briefing  →   gdpvision.com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071055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government use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GDPVISION  ·  v1.0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911535" y="63550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GDPVision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GDPVision — Sovereign Pitch</dc:title>
  <dc:subject>PptxGenJS Presentation</dc:subject>
  <dc:creator>GDPVision</dc:creator>
  <cp:lastModifiedBy>GDPVision</cp:lastModifiedBy>
  <cp:revision>1</cp:revision>
  <dcterms:created xsi:type="dcterms:W3CDTF">2026-07-20T00:10:38Z</dcterms:created>
  <dcterms:modified xsi:type="dcterms:W3CDTF">2026-07-20T00:10:38Z</dcterms:modified>
</cp:coreProperties>
</file>